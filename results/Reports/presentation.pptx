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A3280">
              <a:alpha val="60000"/>
            </a:srgbClr>
          </a:solidFill>
          <a:ln w="12700">
            <a:solidFill>
              <a:srgbClr val="1A32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243699">
              <a:alpha val="50000"/>
            </a:srgbClr>
          </a:solidFill>
          <a:ln w="12700">
            <a:solidFill>
              <a:srgbClr val="2436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CUSTOMER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0116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Customer Segmentation Using Unsupervised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UCI Online Retail II Dataset  |  5,878 Customers  |  4 Algorithms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793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4681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42793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5,878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03120" y="4681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42793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4681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42793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4681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Found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42793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46817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has 1M+ transactions but cannot answer: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1691640"/>
            <a:ext cx="7589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7830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most valuable customers?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384048" cy="38404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350008"/>
            <a:ext cx="7589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441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likely to churn?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3008376"/>
            <a:ext cx="7589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" y="309981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spends the most?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3666744"/>
            <a:ext cx="7589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37581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responds best to offers?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exist — Unsupervised Learning is the only viable approach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11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14300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1430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II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2011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55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65506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6550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2009 – Dec 2011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2011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67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16712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16712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79192"/>
            <a:ext cx="2011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9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67919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6791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 Academic 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2011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912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319125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19125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 transactions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20116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03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370332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7033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5,878 after preprocessing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1143000"/>
            <a:ext cx="33832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1143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1673352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600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2066544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1993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2459736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3865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285292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27797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3246120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1729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Items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3639312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35661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Items/Order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78040" y="1673352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4072" y="16002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178040" y="2066544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34072" y="19933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2459736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34072" y="23865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Between Orders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2852928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34072" y="27797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Item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178040" y="3246120"/>
            <a:ext cx="201168" cy="20116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34072" y="31729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097280" cy="1097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35608" y="1719072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1188720"/>
            <a:ext cx="1097280" cy="109728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46504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55064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55064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62072" y="1719072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188720"/>
            <a:ext cx="1097280" cy="10972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2968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81528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81528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plots,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88536" y="1719072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9432" y="1188720"/>
            <a:ext cx="1097280" cy="10972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99432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07992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7992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Scale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1719072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1188720"/>
            <a:ext cx="1097280" cy="109728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25896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34456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34456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41464" y="1719072"/>
            <a:ext cx="29260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1188720"/>
            <a:ext cx="1097280" cy="1097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5236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0920" y="2423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2880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segments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final_clusters.csv  |  15+ plots  |  model_comparison.csv  |  6 named segments  |  marketing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UNSUPERVISED LEARNING?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463040"/>
          </a:xfrm>
          <a:prstGeom prst="rect">
            <a:avLst/>
          </a:prstGeom>
          <a:solidFill>
            <a:srgbClr val="1A328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Exist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are unknown upfront. There's no 'correct' answer to learn from.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023360" cy="1463040"/>
          </a:xfrm>
          <a:prstGeom prst="rect">
            <a:avLst/>
          </a:prstGeom>
          <a:solidFill>
            <a:srgbClr val="1A32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834640"/>
            <a:ext cx="64008" cy="1463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Hidden Patterns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emerge purely from behaviour — unbiased by human assumptions.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1463040"/>
          </a:xfrm>
          <a:prstGeom prst="rect">
            <a:avLst/>
          </a:prstGeom>
          <a:solidFill>
            <a:srgbClr val="1A328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64008" cy="1463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size dataset without manual labelling effort.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463040"/>
          </a:xfrm>
          <a:prstGeom prst="rect">
            <a:avLst/>
          </a:prstGeom>
          <a:solidFill>
            <a:srgbClr val="1A3280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64008" cy="1463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Business-Aligned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interpretable segments that map directly to marketing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COMPARED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474720"/>
          </a:xfrm>
          <a:prstGeom prst="rect">
            <a:avLst/>
          </a:prstGeom>
          <a:solidFill>
            <a:srgbClr val="EEF8F2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6596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WINNER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9659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+ DBI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K≥3 constraint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92608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926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Sil: 0.2313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333756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337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DBI: 1.1238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74904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749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K/n = 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097280"/>
            <a:ext cx="196596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19659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cut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92608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926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Sil: 0.1535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0" y="333756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337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DBI: 1.2507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74904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749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K/n = 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097280"/>
            <a:ext cx="196596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6592" y="19659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k-distance eps tuning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detection: 15.4%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92608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926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Sil: 0.1649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33756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337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DBI: 0.7323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36592" y="374904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749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K/n = 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03136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03136" y="1097280"/>
            <a:ext cx="1965960" cy="502920"/>
          </a:xfrm>
          <a:prstGeom prst="rect">
            <a:avLst/>
          </a:prstGeom>
          <a:solidFill>
            <a:srgbClr val="8DA0B8"/>
          </a:solidFill>
          <a:ln w="12700">
            <a:solidFill>
              <a:srgbClr val="8DA0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12864" y="19659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component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assignments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12864" y="292608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12864" y="2926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Sil: 0.0635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12864" y="333756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3337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DBI: 2.1009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12864" y="3749040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3749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K/n =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CLUSTER SELECTION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drops steeply to K=6, then flattens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80960" y="1280160"/>
            <a:ext cx="96012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28016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47672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39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3134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scores 0.2313 — best among K≥3 options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2084832"/>
            <a:ext cx="96012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0848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5234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52344"/>
            <a:ext cx="54864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43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11810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 stabilises from K=6, lower = better compact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80960" y="2889504"/>
            <a:ext cx="960120" cy="365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88950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5701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57016"/>
            <a:ext cx="54864" cy="6583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48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Constraint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92277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mathematically optimal but not actionable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3694176"/>
            <a:ext cx="960120" cy="3657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69417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K≥3  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decision: K = 6  |  All 3 scientific methods converge on this choice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CUSTOMER SEGMENTS DISCOVERED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1A328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 Champions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· Frequent · High spend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25603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VIP + Referral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1A328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Loyal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90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 · Good monetary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965960"/>
            <a:ext cx="25603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Upsell + Cross-sell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1A32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 Potential Loyalists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4904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· Growing engagement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965960"/>
            <a:ext cx="25603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65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Nurture + Incentivise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1A3280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At-Risk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active · Now lapsing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25603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Win-back Campaign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43200" cy="1691640"/>
          </a:xfrm>
          <a:prstGeom prst="rect">
            <a:avLst/>
          </a:prstGeom>
          <a:solidFill>
            <a:srgbClr val="1A3280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 Hibernating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recency · Low engagement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3931920"/>
            <a:ext cx="25603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Reactivation Offer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2926080"/>
            <a:ext cx="2743200" cy="1691640"/>
          </a:xfrm>
          <a:prstGeom prst="rect">
            <a:avLst/>
          </a:prstGeom>
          <a:solidFill>
            <a:srgbClr val="1A3280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 Lost / Churned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34564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inactive · Minimal value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931920"/>
            <a:ext cx="2560320" cy="3474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931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Final Offer / Supp.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12801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Customers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82880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Personas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2801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(K=2 baseline)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97280"/>
            <a:ext cx="1828800" cy="12801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188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£29K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54864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51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265176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share — reward with VIP loyalty programme &amp; early product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99816"/>
            <a:ext cx="54864" cy="4389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912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191256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win-back needed — 'We miss you' email + 15-20% discount before full churn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39312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39312"/>
            <a:ext cx="54864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730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8840" y="373075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potential — nurture with personalised 2nd/3rd purchase incentives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78808"/>
            <a:ext cx="54864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2702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Churned: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48840" y="427024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final deep-discount reactivation, then move to suppression list to save budget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16459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2D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94560" y="1234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545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65.6%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07592"/>
            <a:ext cx="384048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0759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Cluster visualisation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39112"/>
            <a:ext cx="1645920" cy="7498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39112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3D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130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4414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80.4%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03704"/>
            <a:ext cx="384048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20370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3D cluster exploration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3522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35224"/>
            <a:ext cx="1645920" cy="7498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35224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95%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3026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components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3337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97.8%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99816"/>
            <a:ext cx="384048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09981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Clustering input (preserved)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3133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31336"/>
            <a:ext cx="1645920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31336"/>
            <a:ext cx="1645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94560" y="3922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42336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Variance: Non-linear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995928"/>
            <a:ext cx="3840480" cy="402336"/>
          </a:xfrm>
          <a:prstGeom prst="rect">
            <a:avLst/>
          </a:prstGeom>
          <a:solidFill>
            <a:srgbClr val="EEF2FF"/>
          </a:solidFill>
          <a:ln w="12700">
            <a:solidFill>
              <a:srgbClr val="D0D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9592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Bonus — non-linear separation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6217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14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93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(gitignored)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64792"/>
            <a:ext cx="54864" cy="62179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96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cleaned + engineered CSVs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69464"/>
            <a:ext cx="54864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24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8986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step-by-step Jupyter notebooks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74136"/>
            <a:ext cx="54864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29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Python modules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178808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178808"/>
            <a:ext cx="54864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33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src/clustering/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5079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· hierarchical · dbscan · gmm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960120"/>
            <a:ext cx="54864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01498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results/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12893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plots, PCA outputs, metrics CSVs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1764792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764792"/>
            <a:ext cx="54864" cy="6217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196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0939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final_report.pdf + presentation.pptx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9464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569464"/>
            <a:ext cx="54864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6243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28986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— single entry point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374136"/>
            <a:ext cx="4206240" cy="621792"/>
          </a:xfrm>
          <a:prstGeom prst="rect">
            <a:avLst/>
          </a:prstGeom>
          <a:solidFill>
            <a:srgbClr val="1A32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374136"/>
            <a:ext cx="54864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429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7033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dependencies pinned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1A328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(K=6) won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0817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weighted score: Sil=0.2313, DBI=1.1238. Business-constrained selection was critical.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8412480" cy="777240"/>
          </a:xfrm>
          <a:prstGeom prst="rect">
            <a:avLst/>
          </a:prstGeom>
          <a:solidFill>
            <a:srgbClr val="1A328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3911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Principle confirmed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3682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of customers generate ~80% of revenue — Champions &amp; Loyal segments are top priority.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777240"/>
          </a:xfrm>
          <a:prstGeom prst="rect">
            <a:avLst/>
          </a:prstGeom>
          <a:solidFill>
            <a:srgbClr val="1A3280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992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identified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3284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+ Lost clusters (2 segments) need immediate intervention with win-back campaigns.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8412480" cy="777240"/>
          </a:xfrm>
          <a:prstGeom prst="rect">
            <a:avLst/>
          </a:prstGeom>
          <a:solidFill>
            <a:srgbClr val="1A3280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86200"/>
            <a:ext cx="64008" cy="7772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9593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delivered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28853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load → preprocess → EDA → feature eng. → cluster → interpret → strategy.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663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Vikas  |  Customer Segmentation Capstone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Customer Intelligence System</dc:title>
  <dc:subject>PptxGenJS Presentation</dc:subject>
  <dc:creator>Vikas</dc:creator>
  <cp:lastModifiedBy>Vikas</cp:lastModifiedBy>
  <cp:revision>1</cp:revision>
  <dcterms:created xsi:type="dcterms:W3CDTF">2026-03-24T13:38:13Z</dcterms:created>
  <dcterms:modified xsi:type="dcterms:W3CDTF">2026-03-24T13:38:13Z</dcterms:modified>
</cp:coreProperties>
</file>